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85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7419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1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0" y="0"/>
            <a:ext cx="438912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3840480" y="0"/>
            <a:ext cx="1097280" cy="5143500"/>
          </a:xfrm>
          <a:prstGeom prst="rt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743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2743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83080" y="2743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2743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88920" y="2743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2743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94760" y="2743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105156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105156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105156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3080" y="105156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105156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88920" y="105156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760" y="105156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182880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94760" y="182880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" y="260604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94760" y="260604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338328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94760" y="338328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4320" y="41605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77240" y="41605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80160" y="41605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83080" y="41605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286000" y="41605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88920" y="41605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91840" y="41605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794760" y="4160520"/>
            <a:ext cx="54864" cy="54864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4904" y="1186434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VRINDA</a:t>
            </a:r>
            <a:endParaRPr lang="en-US" sz="6000" dirty="0"/>
          </a:p>
        </p:txBody>
      </p:sp>
      <p:sp>
        <p:nvSpPr>
          <p:cNvPr id="53" name="Text 51"/>
          <p:cNvSpPr/>
          <p:nvPr/>
        </p:nvSpPr>
        <p:spPr>
          <a:xfrm>
            <a:off x="548640" y="217398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500" dirty="0">
                <a:solidFill>
                  <a:srgbClr val="C4B5F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ANALYTICS</a:t>
            </a:r>
            <a:endParaRPr lang="en-US" sz="2400" dirty="0"/>
          </a:p>
        </p:txBody>
      </p:sp>
      <p:sp>
        <p:nvSpPr>
          <p:cNvPr id="54" name="Shape 52"/>
          <p:cNvSpPr/>
          <p:nvPr/>
        </p:nvSpPr>
        <p:spPr>
          <a:xfrm>
            <a:off x="420624" y="2769072"/>
            <a:ext cx="3029340" cy="45719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20624" y="2729484"/>
            <a:ext cx="3374136" cy="1412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MIS Solutions for</a:t>
            </a:r>
            <a:endParaRPr lang="en-US" sz="2000" dirty="0"/>
          </a:p>
          <a:p>
            <a:pPr marL="0" indent="0" algn="l">
              <a:buNone/>
            </a:pPr>
            <a:r>
              <a:rPr lang="en-US" sz="2000" i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Driven Decision Making</a:t>
            </a:r>
            <a:endParaRPr lang="en-US" sz="2000" dirty="0"/>
          </a:p>
        </p:txBody>
      </p:sp>
      <p:sp>
        <p:nvSpPr>
          <p:cNvPr id="56" name="Text 54"/>
          <p:cNvSpPr/>
          <p:nvPr/>
        </p:nvSpPr>
        <p:spPr>
          <a:xfrm>
            <a:off x="5029200" y="115816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Biswajeet</a:t>
            </a:r>
            <a:r>
              <a:rPr lang="en-US" sz="2600" b="1" dirty="0">
                <a:solidFill>
                  <a:srgbClr val="1E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Prasad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5029200" y="19704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Microsoft Certified Data Analyst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5029200" y="2514600"/>
            <a:ext cx="3200400" cy="27432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08576" y="2747716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5+</a:t>
            </a:r>
            <a:endParaRPr lang="en-US" sz="2400" dirty="0"/>
          </a:p>
        </p:txBody>
      </p:sp>
      <p:sp>
        <p:nvSpPr>
          <p:cNvPr id="60" name="Text 58"/>
          <p:cNvSpPr/>
          <p:nvPr/>
        </p:nvSpPr>
        <p:spPr>
          <a:xfrm>
            <a:off x="4608576" y="32049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Experience</a:t>
            </a:r>
            <a:endParaRPr lang="en-US" sz="1200" b="1" dirty="0"/>
          </a:p>
        </p:txBody>
      </p:sp>
      <p:sp>
        <p:nvSpPr>
          <p:cNvPr id="61" name="Text 59"/>
          <p:cNvSpPr/>
          <p:nvPr/>
        </p:nvSpPr>
        <p:spPr>
          <a:xfrm>
            <a:off x="5980176" y="2747716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12+</a:t>
            </a:r>
            <a:endParaRPr lang="en-US" sz="2400" dirty="0"/>
          </a:p>
        </p:txBody>
      </p:sp>
      <p:sp>
        <p:nvSpPr>
          <p:cNvPr id="62" name="Text 60"/>
          <p:cNvSpPr/>
          <p:nvPr/>
        </p:nvSpPr>
        <p:spPr>
          <a:xfrm>
            <a:off x="5935571" y="32049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</a:t>
            </a:r>
            <a:endParaRPr lang="en-US" sz="1200" b="1" dirty="0"/>
          </a:p>
        </p:txBody>
      </p:sp>
      <p:sp>
        <p:nvSpPr>
          <p:cNvPr id="63" name="Text 61"/>
          <p:cNvSpPr/>
          <p:nvPr/>
        </p:nvSpPr>
        <p:spPr>
          <a:xfrm>
            <a:off x="7351776" y="2747716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70%</a:t>
            </a:r>
            <a:endParaRPr lang="en-US" sz="2400" dirty="0"/>
          </a:p>
        </p:txBody>
      </p:sp>
      <p:sp>
        <p:nvSpPr>
          <p:cNvPr id="64" name="Text 62"/>
          <p:cNvSpPr/>
          <p:nvPr/>
        </p:nvSpPr>
        <p:spPr>
          <a:xfrm>
            <a:off x="7361813" y="32049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Reduced</a:t>
            </a:r>
            <a:endParaRPr lang="en-US" sz="1200" b="1" dirty="0"/>
          </a:p>
        </p:txBody>
      </p:sp>
      <p:sp>
        <p:nvSpPr>
          <p:cNvPr id="65" name="Text 63"/>
          <p:cNvSpPr/>
          <p:nvPr/>
        </p:nvSpPr>
        <p:spPr>
          <a:xfrm>
            <a:off x="6135624" y="4215384"/>
            <a:ext cx="15457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vrindaai.com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Most Organizations Are Still Flying Blind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80744"/>
            <a:ext cx="274320" cy="27432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62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32588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Excel reporting — slow and error-prone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274320" cy="27432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19476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Delays in report generation — hours or even days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624328"/>
            <a:ext cx="274320" cy="27432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25694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scattered across departments with no sync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274320" cy="27432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227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31912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system — everyone has own version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867912"/>
            <a:ext cx="274320" cy="27432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9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8680" y="381304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real-time visibility for management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0" y="1097280"/>
            <a:ext cx="3749040" cy="3346704"/>
          </a:xfrm>
          <a:prstGeom prst="rect">
            <a:avLst/>
          </a:prstGeom>
          <a:solidFill>
            <a:srgbClr val="FEF2F2"/>
          </a:solidFill>
          <a:ln w="19050">
            <a:solidFill>
              <a:srgbClr val="FECA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21208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 Without Data: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12080" y="178308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Slow decisions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12080" y="229464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Revenue loss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12080" y="28062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Operational inefficiency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212080" y="331776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Missed opportunities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12080" y="3829329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Team frustration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8280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solution?     A centralized, automated MIS system built for your business.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90627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Build Systems That Drive Decisions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138428"/>
            <a:ext cx="3977640" cy="150876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38428"/>
            <a:ext cx="73152" cy="150876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03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13030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 Reports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97280" y="170535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generated on schedule — zero manual effort required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138428"/>
            <a:ext cx="3977640" cy="150876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38428"/>
            <a:ext cx="73152" cy="150876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303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0" y="13030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Dashboards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0" y="170535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dashboards accessible anywhere, anytime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830068"/>
            <a:ext cx="3977640" cy="150876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830068"/>
            <a:ext cx="73152" cy="150876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9946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97280" y="29946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 Data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339699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— validated and centralized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2830068"/>
            <a:ext cx="3977640" cy="150876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2830068"/>
            <a:ext cx="73152" cy="150876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29946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86400" y="29946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KPI Tracking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486400" y="339699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KPIs across every department in one unified view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8280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convert raw data into clear, actionable business insights — delivered every morning.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SERVICES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93192" y="442926"/>
            <a:ext cx="8631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Services That Transform Data Into Decisions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56032" y="11887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93192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13816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 Reporting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93192" y="17830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weekly &amp; monthly automated MIS reports — accurate and on time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93192" y="24688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· SQL · Power BI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11887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375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794760" y="1383643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 Development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37560" y="17830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real-time dashboards for instant visibility across departments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37560" y="24688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Tableau · Looker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44768" y="11887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81928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🧹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739128" y="1371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Cleaning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81928" y="17830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validate and structure raw data from ERP, CRM, or Excel sources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81928" y="24688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SQL · Excel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" y="30175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93192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22540" y="3200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Automation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93192" y="36118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automation from data extraction to formatted delivery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93192" y="42976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Macros · Scheduler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0" y="30175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3756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📧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794760" y="3200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Email Reporting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337560" y="36118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delivery to management inbox every morning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337560" y="42976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SMTP · Scheduled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44768" y="30175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281928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🗄️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739128" y="3200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Management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81928" y="36118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 pipelines ensuring accuracy and consistency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281928" y="42976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· Google Sheets · ETL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47472" y="431775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Dashboards Built Across 12+ Industries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56032" y="1234440"/>
            <a:ext cx="2011680" cy="10058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47472" y="14904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 Sales &amp; Retail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432304" y="1234440"/>
            <a:ext cx="2011680" cy="10058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23744" y="14904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📣 Marketing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08576" y="1234440"/>
            <a:ext cx="2011680" cy="10058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00016" y="14904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 Finance &amp; Banking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784848" y="1234440"/>
            <a:ext cx="2011680" cy="10058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76288" y="14904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🚛 Supply Chain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" y="2423160"/>
            <a:ext cx="2011680" cy="10058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47472" y="2679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Healthcare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432304" y="2423160"/>
            <a:ext cx="2011680" cy="10058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523744" y="2679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🛍️ E-commerce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08576" y="2423160"/>
            <a:ext cx="2011680" cy="10058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0016" y="2679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Education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84848" y="2423160"/>
            <a:ext cx="2011680" cy="10058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76288" y="2679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Manufacturing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56032" y="3611880"/>
            <a:ext cx="2011680" cy="10058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47472" y="386791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MIS / Business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432304" y="3611880"/>
            <a:ext cx="2011680" cy="10058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523744" y="386791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Social Media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08576" y="3611880"/>
            <a:ext cx="2011680" cy="10058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0016" y="386791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 Food &amp; Restaurant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84848" y="3611880"/>
            <a:ext cx="2011680" cy="10058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876288" y="386791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HR Analytics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8280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combined into one centralized MIS system.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Raw Data to Management Insight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463040" y="2377440"/>
            <a:ext cx="274320" cy="36576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1188720"/>
            <a:ext cx="640080" cy="640080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01752" y="1920240"/>
            <a:ext cx="11887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1752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01752" y="254203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</a:t>
            </a:r>
            <a:endParaRPr lang="en-US" sz="1200" b="1" dirty="0"/>
          </a:p>
        </p:txBody>
      </p:sp>
      <p:sp>
        <p:nvSpPr>
          <p:cNvPr id="11" name="Text 9"/>
          <p:cNvSpPr/>
          <p:nvPr/>
        </p:nvSpPr>
        <p:spPr>
          <a:xfrm>
            <a:off x="320040" y="3090672"/>
            <a:ext cx="1152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Excel, CRM, ERP &amp; custom sources</a:t>
            </a:r>
            <a:endParaRPr lang="en-US" sz="1100" b="1" dirty="0"/>
          </a:p>
        </p:txBody>
      </p:sp>
      <p:sp>
        <p:nvSpPr>
          <p:cNvPr id="12" name="Shape 10"/>
          <p:cNvSpPr/>
          <p:nvPr/>
        </p:nvSpPr>
        <p:spPr>
          <a:xfrm>
            <a:off x="2926080" y="2377440"/>
            <a:ext cx="274320" cy="36576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39112" y="1188720"/>
            <a:ext cx="640080" cy="640080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9112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764792" y="1920240"/>
            <a:ext cx="11887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764792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🧹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64792" y="254203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 &amp; Validation</a:t>
            </a:r>
            <a:endParaRPr lang="en-US" sz="1200" b="1" dirty="0"/>
          </a:p>
        </p:txBody>
      </p:sp>
      <p:sp>
        <p:nvSpPr>
          <p:cNvPr id="18" name="Text 16"/>
          <p:cNvSpPr/>
          <p:nvPr/>
        </p:nvSpPr>
        <p:spPr>
          <a:xfrm>
            <a:off x="1783080" y="3090672"/>
            <a:ext cx="1152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 point checked for accuracy</a:t>
            </a:r>
            <a:endParaRPr lang="en-US" sz="1100" b="1" dirty="0"/>
          </a:p>
        </p:txBody>
      </p:sp>
      <p:sp>
        <p:nvSpPr>
          <p:cNvPr id="19" name="Shape 17"/>
          <p:cNvSpPr/>
          <p:nvPr/>
        </p:nvSpPr>
        <p:spPr>
          <a:xfrm>
            <a:off x="4389120" y="2377440"/>
            <a:ext cx="274320" cy="36576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02152" y="1188720"/>
            <a:ext cx="640080" cy="640080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02152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27832" y="1920240"/>
            <a:ext cx="11887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227832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227832" y="254203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Structuring</a:t>
            </a:r>
            <a:endParaRPr lang="en-US" sz="1200" b="1" dirty="0"/>
          </a:p>
        </p:txBody>
      </p:sp>
      <p:sp>
        <p:nvSpPr>
          <p:cNvPr id="25" name="Text 23"/>
          <p:cNvSpPr/>
          <p:nvPr/>
        </p:nvSpPr>
        <p:spPr>
          <a:xfrm>
            <a:off x="3246120" y="3090672"/>
            <a:ext cx="1152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models for fast reporting</a:t>
            </a:r>
            <a:endParaRPr lang="en-US" sz="1100" b="1" dirty="0"/>
          </a:p>
        </p:txBody>
      </p:sp>
      <p:sp>
        <p:nvSpPr>
          <p:cNvPr id="26" name="Shape 24"/>
          <p:cNvSpPr/>
          <p:nvPr/>
        </p:nvSpPr>
        <p:spPr>
          <a:xfrm>
            <a:off x="5852160" y="2377440"/>
            <a:ext cx="274320" cy="36576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65192" y="1188720"/>
            <a:ext cx="640080" cy="640080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65192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690872" y="1920240"/>
            <a:ext cx="11887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690872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690872" y="254203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 Reports</a:t>
            </a:r>
            <a:endParaRPr lang="en-US" sz="1200" b="1" dirty="0"/>
          </a:p>
        </p:txBody>
      </p:sp>
      <p:sp>
        <p:nvSpPr>
          <p:cNvPr id="32" name="Text 30"/>
          <p:cNvSpPr/>
          <p:nvPr/>
        </p:nvSpPr>
        <p:spPr>
          <a:xfrm>
            <a:off x="4709160" y="3090672"/>
            <a:ext cx="1152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Formatted, branded &amp; decision-ready</a:t>
            </a:r>
            <a:endParaRPr lang="en-US" sz="1100" b="1" dirty="0"/>
          </a:p>
        </p:txBody>
      </p:sp>
      <p:sp>
        <p:nvSpPr>
          <p:cNvPr id="33" name="Shape 31"/>
          <p:cNvSpPr/>
          <p:nvPr/>
        </p:nvSpPr>
        <p:spPr>
          <a:xfrm>
            <a:off x="7315200" y="2377440"/>
            <a:ext cx="274320" cy="36576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28232" y="1188720"/>
            <a:ext cx="640080" cy="640080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153912" y="1920240"/>
            <a:ext cx="11887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153912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153912" y="254203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Dashboards</a:t>
            </a:r>
            <a:endParaRPr lang="en-US" sz="1200" b="1" dirty="0"/>
          </a:p>
        </p:txBody>
      </p:sp>
      <p:sp>
        <p:nvSpPr>
          <p:cNvPr id="39" name="Text 37"/>
          <p:cNvSpPr/>
          <p:nvPr/>
        </p:nvSpPr>
        <p:spPr>
          <a:xfrm>
            <a:off x="6172200" y="3090672"/>
            <a:ext cx="1152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Tableau, Looker Studio</a:t>
            </a:r>
            <a:endParaRPr lang="en-US" sz="1100" b="1" dirty="0"/>
          </a:p>
        </p:txBody>
      </p:sp>
      <p:sp>
        <p:nvSpPr>
          <p:cNvPr id="40" name="Shape 38"/>
          <p:cNvSpPr/>
          <p:nvPr/>
        </p:nvSpPr>
        <p:spPr>
          <a:xfrm>
            <a:off x="7891272" y="1188720"/>
            <a:ext cx="640080" cy="640080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91272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616952" y="1920240"/>
            <a:ext cx="11887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616952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7616952" y="254203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Automation</a:t>
            </a:r>
            <a:endParaRPr lang="en-US" sz="1200" b="1" dirty="0"/>
          </a:p>
        </p:txBody>
      </p:sp>
      <p:sp>
        <p:nvSpPr>
          <p:cNvPr id="45" name="Text 43"/>
          <p:cNvSpPr/>
          <p:nvPr/>
        </p:nvSpPr>
        <p:spPr>
          <a:xfrm>
            <a:off x="7635240" y="3090672"/>
            <a:ext cx="1152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to management on schedule</a:t>
            </a:r>
            <a:endParaRPr lang="en-US" sz="1100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Industry-Standard Tools &amp; Technologies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20240" cy="155448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1920240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716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📗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</a:t>
            </a:r>
            <a:endParaRPr lang="en-US" sz="2000" b="1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reporting &amp; dashboards</a:t>
            </a:r>
            <a:endParaRPr lang="en-US" sz="1200" b="1" dirty="0"/>
          </a:p>
        </p:txBody>
      </p:sp>
      <p:sp>
        <p:nvSpPr>
          <p:cNvPr id="10" name="Shape 8"/>
          <p:cNvSpPr/>
          <p:nvPr/>
        </p:nvSpPr>
        <p:spPr>
          <a:xfrm>
            <a:off x="2560320" y="1234440"/>
            <a:ext cx="1920240" cy="155448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0" y="1234440"/>
            <a:ext cx="1920240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0" y="13716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56032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 BI</a:t>
            </a:r>
            <a:endParaRPr lang="en-US" sz="2000" b="1" dirty="0"/>
          </a:p>
        </p:txBody>
      </p:sp>
      <p:sp>
        <p:nvSpPr>
          <p:cNvPr id="14" name="Text 12"/>
          <p:cNvSpPr/>
          <p:nvPr/>
        </p:nvSpPr>
        <p:spPr>
          <a:xfrm>
            <a:off x="265176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dashboards</a:t>
            </a:r>
            <a:endParaRPr lang="en-US" sz="1200" b="1" dirty="0"/>
          </a:p>
        </p:txBody>
      </p:sp>
      <p:sp>
        <p:nvSpPr>
          <p:cNvPr id="15" name="Shape 13"/>
          <p:cNvSpPr/>
          <p:nvPr/>
        </p:nvSpPr>
        <p:spPr>
          <a:xfrm>
            <a:off x="4663440" y="1234440"/>
            <a:ext cx="1920240" cy="155448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234440"/>
            <a:ext cx="1920240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13716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66344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Tableau</a:t>
            </a:r>
            <a:endParaRPr lang="en-US" sz="2000" b="1" dirty="0"/>
          </a:p>
        </p:txBody>
      </p:sp>
      <p:sp>
        <p:nvSpPr>
          <p:cNvPr id="19" name="Text 17"/>
          <p:cNvSpPr/>
          <p:nvPr/>
        </p:nvSpPr>
        <p:spPr>
          <a:xfrm>
            <a:off x="475488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</a:t>
            </a:r>
            <a:endParaRPr lang="en-US" sz="1200" b="1" dirty="0"/>
          </a:p>
        </p:txBody>
      </p:sp>
      <p:sp>
        <p:nvSpPr>
          <p:cNvPr id="20" name="Shape 18"/>
          <p:cNvSpPr/>
          <p:nvPr/>
        </p:nvSpPr>
        <p:spPr>
          <a:xfrm>
            <a:off x="6766560" y="1234440"/>
            <a:ext cx="1920240" cy="155448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66560" y="1234440"/>
            <a:ext cx="1920240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13716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👁️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76656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Looker Studio</a:t>
            </a:r>
            <a:endParaRPr lang="en-US" sz="2000" b="1" dirty="0"/>
          </a:p>
        </p:txBody>
      </p:sp>
      <p:sp>
        <p:nvSpPr>
          <p:cNvPr id="24" name="Text 22"/>
          <p:cNvSpPr/>
          <p:nvPr/>
        </p:nvSpPr>
        <p:spPr>
          <a:xfrm>
            <a:off x="685800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Google-powered BI</a:t>
            </a:r>
            <a:endParaRPr lang="en-US" sz="1200" b="1" dirty="0"/>
          </a:p>
        </p:txBody>
      </p:sp>
      <p:sp>
        <p:nvSpPr>
          <p:cNvPr id="25" name="Shape 23"/>
          <p:cNvSpPr/>
          <p:nvPr/>
        </p:nvSpPr>
        <p:spPr>
          <a:xfrm>
            <a:off x="457200" y="3063240"/>
            <a:ext cx="1920240" cy="155448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063240"/>
            <a:ext cx="1920240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200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🗄️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57200" y="37490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</a:t>
            </a:r>
            <a:endParaRPr lang="en-US" sz="2000" b="1" dirty="0"/>
          </a:p>
        </p:txBody>
      </p:sp>
      <p:sp>
        <p:nvSpPr>
          <p:cNvPr id="29" name="Text 27"/>
          <p:cNvSpPr/>
          <p:nvPr/>
        </p:nvSpPr>
        <p:spPr>
          <a:xfrm>
            <a:off x="548640" y="4114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extraction &amp; structuring</a:t>
            </a:r>
            <a:endParaRPr lang="en-US" sz="1200" b="1" dirty="0"/>
          </a:p>
        </p:txBody>
      </p:sp>
      <p:sp>
        <p:nvSpPr>
          <p:cNvPr id="30" name="Shape 28"/>
          <p:cNvSpPr/>
          <p:nvPr/>
        </p:nvSpPr>
        <p:spPr>
          <a:xfrm>
            <a:off x="2560320" y="3063240"/>
            <a:ext cx="1920240" cy="155448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560320" y="3063240"/>
            <a:ext cx="1920240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0" y="3200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🐍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2560320" y="37490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2000" b="1" dirty="0"/>
          </a:p>
        </p:txBody>
      </p:sp>
      <p:sp>
        <p:nvSpPr>
          <p:cNvPr id="34" name="Text 32"/>
          <p:cNvSpPr/>
          <p:nvPr/>
        </p:nvSpPr>
        <p:spPr>
          <a:xfrm>
            <a:off x="2651760" y="4114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&amp; processing</a:t>
            </a:r>
            <a:endParaRPr lang="en-US" sz="1100" b="1" dirty="0"/>
          </a:p>
        </p:txBody>
      </p:sp>
      <p:sp>
        <p:nvSpPr>
          <p:cNvPr id="35" name="Shape 33"/>
          <p:cNvSpPr/>
          <p:nvPr/>
        </p:nvSpPr>
        <p:spPr>
          <a:xfrm>
            <a:off x="4663440" y="3063240"/>
            <a:ext cx="1920240" cy="155448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063240"/>
            <a:ext cx="1920240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3200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4663440" y="37490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Sheets</a:t>
            </a:r>
            <a:endParaRPr lang="en-US" sz="2000" b="1" dirty="0"/>
          </a:p>
        </p:txBody>
      </p:sp>
      <p:sp>
        <p:nvSpPr>
          <p:cNvPr id="39" name="Text 37"/>
          <p:cNvSpPr/>
          <p:nvPr/>
        </p:nvSpPr>
        <p:spPr>
          <a:xfrm>
            <a:off x="4754880" y="4114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reporting</a:t>
            </a:r>
            <a:endParaRPr lang="en-US" sz="1200" b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CHOOSE US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Agency vs. Hiring an MIS Analyst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160520" y="2103120"/>
            <a:ext cx="822960" cy="822960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6052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3657600" cy="36576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Hiring an MIS Analyst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8288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Limited skillset — one person only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2860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Dependency &amp; single point of failure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7432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Fixed cost: ₹40K–₹60K/month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200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Training &amp; onboarding required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657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Mostly manual, repetitive work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41148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 scalability as you grow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20640" y="1188720"/>
            <a:ext cx="3657600" cy="36576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1208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VRINDA AI ANALYTICS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57800" y="1828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Multi-skilled: Excel+SQL+BI+Python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57800" y="22860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Automated systems — not manual work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27432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Cost-effective &amp; flexible pricing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57800" y="32004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to deploy — no training needed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57800" y="36576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Fully automated scalable pipelines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57800" y="4114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Grows with your business — unlimited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 Get When You Work With Us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20040" y="1280160"/>
            <a:ext cx="1965960" cy="164592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80160"/>
            <a:ext cx="1965960" cy="64008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4173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5B21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70%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20040" y="22402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68880" y="1280160"/>
            <a:ext cx="1965960" cy="164592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68880" y="1280160"/>
            <a:ext cx="1965960" cy="640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14173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2468880" y="22402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Delivery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17720" y="1280160"/>
            <a:ext cx="1965960" cy="164592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280160"/>
            <a:ext cx="1965960" cy="640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14173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12+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4617720" y="22402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766560" y="1280160"/>
            <a:ext cx="1965960" cy="164592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0" y="1280160"/>
            <a:ext cx="1965960" cy="640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14173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4530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5+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766560" y="22402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5760" y="3209544"/>
            <a:ext cx="292608" cy="292608"/>
          </a:xfrm>
          <a:prstGeom prst="ellipse">
            <a:avLst/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⚡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315468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business visibility — management gets answers instantly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3648456"/>
            <a:ext cx="292608" cy="292608"/>
          </a:xfrm>
          <a:prstGeom prst="ellipse">
            <a:avLst/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648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🎯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" y="359359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decision-making — no more waiting for manual reports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87368"/>
            <a:ext cx="292608" cy="292608"/>
          </a:xfrm>
          <a:prstGeom prst="ellipse">
            <a:avLst/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87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📈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77240" y="403250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operational efficiency across all departments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526280"/>
            <a:ext cx="292608" cy="292608"/>
          </a:xfrm>
          <a:prstGeom prst="ellipse">
            <a:avLst/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526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💰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7240" y="447141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cost savings vs hiring a full-time analyst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3200400" cy="4297680"/>
          </a:xfrm>
          <a:prstGeom prst="rect">
            <a:avLst/>
          </a:prstGeom>
          <a:solidFill>
            <a:srgbClr val="EDE9FE"/>
          </a:solidFill>
          <a:ln w="1905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365760" y="31272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Biswajeet Prasad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90292" y="35935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Certified Data Analyst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39913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</a:rPr>
              <a:t>⭐⭐⭐⭐⭐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65760" y="437540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5+ Years Industry Experience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931920" y="5029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About the Founder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931920" y="1068287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Microsoft-certified Data Analyst with 5+ years of hands-on industry experience building MIS systems, dashboards, and data pipelines for large-scale organizations.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31920" y="202617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Previously Worked With: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931920" y="2651760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931920" y="2651760"/>
            <a:ext cx="64008" cy="47548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69080" y="26517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 Tata Steel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931920" y="3246120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931920" y="3246120"/>
            <a:ext cx="64008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69080" y="324612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TCS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931920" y="3840480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931920" y="3840480"/>
            <a:ext cx="64008" cy="475488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69080" y="384048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Akshipi Solutions</a:t>
            </a:r>
            <a:endParaRPr lang="en-US" sz="1600" dirty="0"/>
          </a:p>
        </p:txBody>
      </p:sp>
      <p:pic>
        <p:nvPicPr>
          <p:cNvPr id="25" name="Picture 24" descr="A person in a suit&#10;&#10;AI-generated content may be incorrect.">
            <a:extLst>
              <a:ext uri="{FF2B5EF4-FFF2-40B4-BE49-F238E27FC236}">
                <a16:creationId xmlns:a16="http://schemas.microsoft.com/office/drawing/2014/main" id="{B28F7A2F-4B05-71F9-B62F-3FBFAA10B0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2" t="15535" r="-282" b="-1490"/>
          <a:stretch/>
        </p:blipFill>
        <p:spPr>
          <a:xfrm>
            <a:off x="1112891" y="782508"/>
            <a:ext cx="1706137" cy="226701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5B21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0" y="0"/>
            <a:ext cx="475488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3474720" y="0"/>
            <a:ext cx="1097280" cy="5143500"/>
          </a:xfrm>
          <a:prstGeom prst="rt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7432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7432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57400" y="27432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51760" y="27432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27432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109728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109728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192024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92024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" y="274320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274320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63040" y="274320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274320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51760" y="274320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74320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" y="356616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4320" y="438912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8680" y="438912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63040" y="438912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57400" y="438912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51760" y="438912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4389120"/>
            <a:ext cx="64008" cy="64008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3258" y="602891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Let's Build Your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 System</a:t>
            </a:r>
            <a:endParaRPr lang="en-US" sz="4000" dirty="0"/>
          </a:p>
        </p:txBody>
      </p:sp>
      <p:sp>
        <p:nvSpPr>
          <p:cNvPr id="41" name="Shape 39"/>
          <p:cNvSpPr/>
          <p:nvPr/>
        </p:nvSpPr>
        <p:spPr>
          <a:xfrm flipV="1">
            <a:off x="448725" y="2425585"/>
            <a:ext cx="2733387" cy="45719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9768" y="2931544"/>
            <a:ext cx="3162709" cy="13295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don't just create reports —</a:t>
            </a:r>
            <a:endParaRPr lang="en-US" dirty="0"/>
          </a:p>
          <a:p>
            <a:pPr marL="0" indent="0">
              <a:buNone/>
            </a:pPr>
            <a:r>
              <a:rPr lang="en-US" i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 build systems that</a:t>
            </a:r>
            <a:endParaRPr lang="en-US" dirty="0"/>
          </a:p>
          <a:p>
            <a:pPr marL="0" indent="0">
              <a:buNone/>
            </a:pPr>
            <a:r>
              <a:rPr lang="en-US" i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drive decisions."</a:t>
            </a: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663440" y="52120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 In Touch</a:t>
            </a:r>
            <a:endParaRPr lang="en-US" sz="2600" dirty="0"/>
          </a:p>
        </p:txBody>
      </p:sp>
      <p:sp>
        <p:nvSpPr>
          <p:cNvPr id="45" name="Shape 43"/>
          <p:cNvSpPr/>
          <p:nvPr/>
        </p:nvSpPr>
        <p:spPr>
          <a:xfrm>
            <a:off x="4663440" y="1417320"/>
            <a:ext cx="4114800" cy="7772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4709160" y="14173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📧</a:t>
            </a:r>
            <a:endParaRPr lang="en-US" sz="2400" dirty="0"/>
          </a:p>
        </p:txBody>
      </p:sp>
      <p:sp>
        <p:nvSpPr>
          <p:cNvPr id="47" name="Text 45"/>
          <p:cNvSpPr/>
          <p:nvPr/>
        </p:nvSpPr>
        <p:spPr>
          <a:xfrm>
            <a:off x="5321808" y="14813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321808" y="1764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info@vrindaai.com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663440" y="2665476"/>
            <a:ext cx="4114800" cy="7772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709160" y="2665476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📞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5321808" y="27294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/ WhatsApp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321808" y="30129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+91 6204829055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4663440" y="3913632"/>
            <a:ext cx="4114800" cy="77724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709160" y="3913632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🌐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5321808" y="3977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321808" y="4251960"/>
            <a:ext cx="249519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vrindaai.com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735</Words>
  <Application>Microsoft Office PowerPoint</Application>
  <PresentationFormat>On-screen Show (16:9)</PresentationFormat>
  <Paragraphs>213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VRINDA AI ANALYTICS</dc:title>
  <dc:subject>PptxGenJS Presentation</dc:subject>
  <dc:creator>Biswajeet Prasad</dc:creator>
  <cp:lastModifiedBy>BISWAJEET PRASAD</cp:lastModifiedBy>
  <cp:revision>4</cp:revision>
  <dcterms:created xsi:type="dcterms:W3CDTF">2026-03-26T08:50:36Z</dcterms:created>
  <dcterms:modified xsi:type="dcterms:W3CDTF">2026-03-27T19:08:15Z</dcterms:modified>
</cp:coreProperties>
</file>